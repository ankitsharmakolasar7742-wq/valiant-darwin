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5912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88720" y="1188720"/>
            <a:ext cx="329184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NEXT-GEN BIOMETRIC VOTING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9601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1F5F9"/>
                </a:solidFill>
              </a:defRPr>
            </a:pPr>
            <a:r>
              <a:t>BioVote: AI Face Detection &amp;</a:t>
            </a:r>
            <a:br/>
            <a:r>
              <a:t>Anti-Spoofing Voting System</a:t>
            </a:r>
          </a:p>
          <a:p>
            <a:pPr>
              <a:spcAft>
                <a:spcPts val="2000"/>
              </a:spcAft>
              <a:defRPr sz="1500">
                <a:solidFill>
                  <a:srgbClr val="94A3B8"/>
                </a:solidFill>
              </a:defRPr>
            </a:pPr>
            <a:r>
              <a:t>A Complete Multi-Tier Electronic Voting Platform with Real-Time Deep Facial Recognition (YuNet + SFace) and Active Interactive Liveness Verification (MediaPipe 3D Mesh)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8463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0A5FA"/>
                </a:solidFill>
              </a:defRPr>
            </a:pPr>
            <a:r>
              <a:t>Technology Stack: Python 3.10 | Flask 3.1 | OpenCV 4.10 (SFace &amp; YuNet) | MediaPipe | SQLite3 | Chart.js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BACKGROUND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Problem Statement &amp; Proposed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11D48"/>
                </a:solidFill>
              </a:defRPr>
            </a:pPr>
            <a:r>
              <a:t>Challenges in Modern Voting Systems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Voter Impersonation &amp; Proxy Voting: 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Unauthorized individuals voting on behalf of others or using stolen identity cards.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Photo &amp; Screen Replay Spoofing: 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Attackers holding up static photographs, printed masks, or video playback from smartphone screens to fool cameras.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Lack of Automated Real-Time Verification: 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Manual voter roll checks are slow, error-prone, and susceptible to electoral manipulation.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Double Voting Vulnerabilities: 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Voters exploiting jurisdictional gaps or timing lags to cast multiple ballots.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563EB"/>
                </a:solidFill>
              </a:defRPr>
            </a:pPr>
            <a:r>
              <a:t>The BioVote Biometric Solution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✓ Deep Facial Biometric Matching: 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SFace deep neural model extracts 128-d facial embedding vector; compares real-time webcam frame with enrolled profile.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✓ Active Challenge-Response Liveness: 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Dynamically issues physical challenges (Blink, Turn Left, Turn Right, Smile) to defeat 2D photos, masks, and video replays.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✓ Two-Factor Email OTP Enrollment: 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Ensures authenticated identity before voting authorization.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✓ Atomic Cryptographic Ballot Ledger: 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One-person-one-vote strictly enforced via DB transactions with tamper-proof digital receipts.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591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6459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1. Client / Presentation Layer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Tailwind CSS UI, WebRTC Live Video Stream, Responsive Ballot Cards, Interactive Anti-Spoofing Radar Modal, Chart.js Live Analytics.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1072591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97480"/>
            <a:ext cx="164592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2. Application API Layer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Flask 3.1 Application, REST Endpoints (/register, /verify-otp, /api/verify-frame, /api/cast-vote, /admin/dashboard), Session Manager.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72591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164592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02336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3. AI &amp; Computer Vision Core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OpenCV YuNet (Face Detection &amp; Alignment), OpenCV SFace (128-d Feature Extraction), MediaPipe (3D Mesh, EAR Blinks, solvePnP Head Pose).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66360"/>
            <a:ext cx="1072591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166360"/>
            <a:ext cx="164592" cy="1051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25780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580C"/>
                </a:solidFill>
              </a:defRPr>
            </a:pPr>
            <a:r>
              <a:t>4. Data &amp; Election Ledger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SQLite Database with ACID transactions, Bcrypt/Werkzeug salted hashes, Cryptographic SHA-256 digital ballot receipts, Zero-Vote locks.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SYSTEM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Modules Overview &amp; Focus Areas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MODULE 1 (DEEP DIVE)</a:t>
            </a:r>
          </a:p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Biometric Face Recognition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YuNet face detector + SFace deep neural net. Extracts 128-D biometric vector, aligns facial landmarks, computes Cosine Similarity score in real-time.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</a:defRPr>
            </a:pPr>
            <a:r>
              <a:t>MODULE 2 (DEEP DIVE)</a:t>
            </a:r>
          </a:p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Anti-Spoofing &amp; Liveness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MediaPipe 3D Landmark Mesh (468 points). Evaluates EAR for eye blinks, solvePnP for 3D head yaw rotation (Left/Right), and mouth aspect for smiles.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690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7C3AED"/>
                </a:solidFill>
              </a:defRPr>
            </a:pPr>
            <a:r>
              <a:t>MODULE 3</a:t>
            </a:r>
          </a:p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Voter Registration &amp; OTP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Registration portal with instant webcam snapshot capture or photo upload. 6-digit OTP verification with simulated dispatcher.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0690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EA580C"/>
                </a:solidFill>
              </a:defRPr>
            </a:pPr>
            <a:r>
              <a:t>MODULE 4</a:t>
            </a:r>
          </a:p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Admin Portal &amp; Analytics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Election Commission portal to register candidates/parties, upload emblems, view live Chart.js vote tallies, and audit voter rolls.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MODULE 1 IMPLEMENTATION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MODULE 1: Biometric Face Recognition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1. WebRTC Frame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Canvas encodes base64 JPEG from client webcam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46304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15544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2. YuNet Detection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Locates bounding box + 5 facial landmarks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46304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15544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3. Face Alignment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recognizer.alignCrop() normalizes pose/tilt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9" y="146304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59" y="15544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4. SFace Embeddings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Computes 128-D compact float feature vector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46304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46920" y="15544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5. Cosine Matching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Compares with stored profile embedding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54680"/>
            <a:ext cx="521208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9184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Mathematical Model &amp; Similarity Metric</a:t>
            </a:r>
          </a:p>
          <a:p>
            <a:pPr>
              <a:defRPr b="1" sz="1100">
                <a:solidFill>
                  <a:srgbClr val="2563EB"/>
                </a:solidFill>
              </a:defRPr>
            </a:pPr>
            <a:r>
              <a:t>• Cosine Similarity Formula: 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S(u, v) = (u · v) / (||u||₂ · ||v||₂)</a:t>
            </a:r>
          </a:p>
          <a:p>
            <a:pPr>
              <a:defRPr b="1" sz="1100">
                <a:solidFill>
                  <a:srgbClr val="2563EB"/>
                </a:solidFill>
              </a:defRPr>
            </a:pPr>
            <a:r>
              <a:t>• OpenCV SFace Benchmark Threshold: 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Cosine Threshold: 0.363 (Calibrated for FAR 1e-3). Score &gt;= 0.363 confirms verified identity.</a:t>
            </a:r>
          </a:p>
          <a:p>
            <a:pPr>
              <a:defRPr b="1" sz="1100">
                <a:solidFill>
                  <a:srgbClr val="2563EB"/>
                </a:solidFill>
              </a:defRPr>
            </a:pPr>
            <a:r>
              <a:t>• Normalized Confidence Mapping: 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Transforms raw cosine score (-1.0 to 1.0) into human-readable 0% - 100% confidence rating displayed live to the voter.</a:t>
            </a:r>
          </a:p>
          <a:p>
            <a:pPr>
              <a:defRPr b="1" sz="1100">
                <a:solidFill>
                  <a:srgbClr val="2563EB"/>
                </a:solidFill>
              </a:defRPr>
            </a:pPr>
            <a:r>
              <a:t>• Biometric Storage Security: 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Profile photo is converted to 128 float values stored as JSON string in SQLite DB for microsecond lookup.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154680"/>
            <a:ext cx="521208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29184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Why YuNet + SFace?</a:t>
            </a:r>
          </a:p>
          <a:p>
            <a:pPr>
              <a:defRPr b="1" sz="1100">
                <a:solidFill>
                  <a:srgbClr val="10B981"/>
                </a:solidFill>
              </a:defRPr>
            </a:pPr>
            <a:r>
              <a:t>✓ Lightweight &amp; High Speed: 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YuNet model is only 232 KB; SFace model is 38.6 MB. Runs in real time (&gt;30 FPS) purely on CPU without expensive GPUs.</a:t>
            </a:r>
          </a:p>
          <a:p>
            <a:pPr>
              <a:defRPr b="1" sz="1100">
                <a:solidFill>
                  <a:srgbClr val="10B981"/>
                </a:solidFill>
              </a:defRPr>
            </a:pPr>
            <a:r>
              <a:t>✓ Pose &amp; Illumination Invariance: 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Automatic affine landmark alignment handles slight head tilts, varying lighting, and distance from camera.</a:t>
            </a:r>
          </a:p>
          <a:p>
            <a:pPr>
              <a:defRPr b="1" sz="1100">
                <a:solidFill>
                  <a:srgbClr val="10B981"/>
                </a:solidFill>
              </a:defRPr>
            </a:pPr>
            <a:r>
              <a:t>✓ Deep Feature Embeddings: 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Extracts facial geometric topology and deep neural textures rather than raw pixel comparison.</a:t>
            </a:r>
          </a:p>
          <a:p>
            <a:pPr>
              <a:defRPr b="1" sz="1100">
                <a:solidFill>
                  <a:srgbClr val="10B981"/>
                </a:solidFill>
              </a:defRPr>
            </a:pPr>
            <a:r>
              <a:t>✓ Zero External C++ Build Hassle: 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Operates directly inside OpenCV 4.10 ONNX runtime without heavy dlib or Cmake compile dependencies.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MODULE 1 IMPLEMENTATION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MODULE 1: Implementation Code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685800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6492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# face_engine.py - Core Recognition Implementation</a:t>
            </a:r>
            <a:br/>
            <a:r>
              <a:t>class FaceEngine:</a:t>
            </a:r>
            <a:br/>
            <a:r>
              <a:t>    def __init__(self):</a:t>
            </a:r>
            <a:br/>
            <a:r>
              <a:t>        # 1. Initialize YuNet Face Detector</a:t>
            </a:r>
            <a:br/>
            <a:r>
              <a:t>        self.detector = cv2.FaceDetectorYN_create(</a:t>
            </a:r>
            <a:br/>
            <a:r>
              <a:t>            model=YUNET_PATH, config="", input_size=(320, 320),</a:t>
            </a:r>
            <a:br/>
            <a:r>
              <a:t>            score_threshold=0.6, nms_threshold=0.3</a:t>
            </a:r>
            <a:br/>
            <a:r>
              <a:t>        )</a:t>
            </a:r>
            <a:br/>
            <a:r>
              <a:t>        # 2. Initialize SFace 128-d Recognizer</a:t>
            </a:r>
            <a:br/>
            <a:r>
              <a:t>        self.recognizer = cv2.FaceRecognizerSF_create(</a:t>
            </a:r>
            <a:br/>
            <a:r>
              <a:t>            model=SFACE_PATH, config=""</a:t>
            </a:r>
            <a:br/>
            <a:r>
              <a:t>        )</a:t>
            </a:r>
            <a:br/>
            <a:br/>
            <a:r>
              <a:t>    def extract_feature(self, bgr_img, face_data=None):</a:t>
            </a:r>
            <a:br/>
            <a:r>
              <a:t>        if face_data is None:</a:t>
            </a:r>
            <a:br/>
            <a:r>
              <a:t>            face_data, _ = self.detect_face(bgr_img)</a:t>
            </a:r>
            <a:br/>
            <a:r>
              <a:t>        # Crop &amp; align face using 5 geometric landmarks</a:t>
            </a:r>
            <a:br/>
            <a:r>
              <a:t>        aligned_face = self.recognizer.alignCrop(bgr_img, face_data)</a:t>
            </a:r>
            <a:br/>
            <a:r>
              <a:t>        return self.recognizer.feature(aligned_face) # 128-d float</a:t>
            </a:r>
            <a:br/>
            <a:br/>
            <a:r>
              <a:t>    def compare_faces(self, feature1, feature2, cosine_threshold=0.363):</a:t>
            </a:r>
            <a:br/>
            <a:r>
              <a:t>        score = self.recognizer.match(</a:t>
            </a:r>
            <a:br/>
            <a:r>
              <a:t>            feature1, feature2, cv2.FaceRecognizerSF_FR_COSINE</a:t>
            </a:r>
            <a:br/>
            <a:r>
              <a:t>        )</a:t>
            </a:r>
            <a:br/>
            <a:r>
              <a:t>        is_match = bool(score &gt;= cosine_threshold)</a:t>
            </a:r>
            <a:br/>
            <a:r>
              <a:t>        pct = min(100.0, 70.0 + ((score - 0.363) / 0.287) * 30.0)</a:t>
            </a:r>
            <a:br/>
            <a:r>
              <a:t>        return is_match, float(score), round(pct,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463040"/>
            <a:ext cx="36576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164592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Key Code Highlights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Registration Validation: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Ensures uploaded portrait contains exactly 1 detectable face before account creation.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Pre-computed Embeddings: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The 128-d array is serialized to database during signup. Only the live webcam frame requires inference during voting.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Sub-15ms Matching: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Cosine similarity between two 128-d vectors executes in &lt; 0.2 milliseconds, enabling 2-3 live evaluations per second without server lag.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MODULE 2 IMPLEMENTATION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MODULE 2: Real-Time Anti-Spoofing &amp; Liveness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5912" cy="731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D4ED8"/>
                </a:solidFill>
              </a:defRPr>
            </a:pPr>
            <a:r>
              <a:t>Active Challenge-Response Biometrics: Solves the vulnerability of static photo attacks and smartphone video replays by assigning a randomly generated physical challenge that must be performed in real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137160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688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563EB"/>
                </a:solidFill>
              </a:defRPr>
            </a:pPr>
            <a:r>
              <a:t>1. Eye Blink Challenge (EAR)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Monitors Left Eye (landmarks 33, 160, 158, 133, 153, 144) &amp; Right Eye (362, 385, 387, 263, 373, 380). Detects rapid EAR dip &lt; 0.20 and rebound. Requires 2 sequential blinks.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33172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2331720"/>
            <a:ext cx="137160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4688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2. Head Turn Left Challenge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MediaPipe 3D landmark mesh calculates head yaw angle via solvePnP &amp; landmark ratios. User must turn head to their left and hold for 4 consecutive frames.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3484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434840"/>
            <a:ext cx="137160" cy="1920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5720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C3AED"/>
                </a:solidFill>
              </a:defRPr>
            </a:pPr>
            <a:r>
              <a:t>3. Head Turn Right Challenge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Evaluates mirrored 3D yaw angle threshold (Yaw &lt; -14° or ratio &gt; 0.62). Confirms volumetric 3D head movement impossible with a flat 2D photograph.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43484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434840"/>
            <a:ext cx="137160" cy="19202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5720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A580C"/>
                </a:solidFill>
              </a:defRPr>
            </a:pPr>
            <a:r>
              <a:t>4. Dynamic Smile Challenge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Measures mouth width (landmarks 61 &amp; 291) relative to face width (landmarks 234 &amp; 454). Verifies genuine smile when ratio exceeds 0.44.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MODULE 2 IMPLEMENTATION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MODULE 2: Liveness Mathematical Formulations &amp;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Mathematical Formulations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Eye Aspect Ratio (EAR) Formulation: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EAR = (||p₂ - p₆|| + ||p₃ - p₅||) / (2 · ||p₁ - p₄||)</a:t>
            </a:r>
            <a:br/>
            <a:r>
              <a:t>• p₁, p₄: horizontal corners; p₂, p₆ and p₃, p₅: vertical eyelids.</a:t>
            </a:r>
            <a:br/>
            <a:r>
              <a:t>• Open eyes: EAR ~ 0.28 - 0.35. Closed eyes: EAR &lt; 0.20.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3D Head Pose Estimation (solvePnP):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Maps 3D generic facial points to 2D image coordinates:</a:t>
            </a:r>
            <a:br/>
            <a:r>
              <a:t>• Nose (1), Chin (152), Left Eye (33), Right Eye (263), Mouth (61, 291).</a:t>
            </a:r>
            <a:br/>
            <a:r>
              <a:t>• Solves camera matrix &amp; Rodrigues rotation vector R.</a:t>
            </a:r>
            <a:br/>
            <a:r>
              <a:t>• Computes Euler Yaw: Yaw = arctan2(-R[2,0], sqrt(R[0,0]² + R[1,0]²))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Smile Ratio Formulation: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Smile Ratio = ||Mouth_Left - Mouth_Right|| / ||Cheek_L - Cheek_R||</a:t>
            </a:r>
            <a:br/>
            <a:r>
              <a:t>• Genuine smile triggers when ratio &gt; 0.44 for &gt;= 4 frames.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Consolas"/>
              </a:defRPr>
            </a:pPr>
            <a:r>
              <a:t># Liveness Challenge Verification Snippet</a:t>
            </a:r>
            <a:br/>
            <a:r>
              <a:t>def evaluate_liveness_and_match(self, frame, reg_feat,</a:t>
            </a:r>
            <a:br/>
            <a:r>
              <a:t>                                challenge_type, state):</a:t>
            </a:r>
            <a:br/>
            <a:r>
              <a:t>    results = self.face_mesh.process(rgb_frame)</a:t>
            </a:r>
            <a:br/>
            <a:r>
              <a:t>    lms = results.multi_face_landmarks[0].landmark</a:t>
            </a:r>
            <a:br/>
            <a:r>
              <a:t>    </a:t>
            </a:r>
            <a:br/>
            <a:r>
              <a:t>    # 1. Evaluate Blink</a:t>
            </a:r>
            <a:br/>
            <a:r>
              <a:t>    if challenge_type == "BLINK":</a:t>
            </a:r>
            <a:br/>
            <a:r>
              <a:t>        ear = (self._ear(lms, L_EYE) + self._ear(lms, R_EYE)) / 2</a:t>
            </a:r>
            <a:br/>
            <a:r>
              <a:t>        if ear &lt; 0.20:</a:t>
            </a:r>
            <a:br/>
            <a:r>
              <a:t>            state["eye_closed"] = True</a:t>
            </a:r>
            <a:br/>
            <a:r>
              <a:t>        elif state.get("eye_closed"):</a:t>
            </a:r>
            <a:br/>
            <a:r>
              <a:t>            state["blinks"] += 1</a:t>
            </a:r>
            <a:br/>
            <a:r>
              <a:t>            state["eye_closed"] = False</a:t>
            </a:r>
            <a:br/>
            <a:r>
              <a:t>        if state["blinks"] &gt;= 2:</a:t>
            </a:r>
            <a:br/>
            <a:r>
              <a:t>            state["challenge_passed"] = True</a:t>
            </a:r>
            <a:br/>
            <a:br/>
            <a:r>
              <a:t>    # 2. Evaluate 3D Head Yaw</a:t>
            </a:r>
            <a:br/>
            <a:r>
              <a:t>    elif challenge_type == "HEAD_LEFT":</a:t>
            </a:r>
            <a:br/>
            <a:r>
              <a:t>        pitch, yaw, roll = self._estimate_head_pose(lms)</a:t>
            </a:r>
            <a:br/>
            <a:r>
              <a:t>        if yaw &gt; 14.0 or ratio &lt; 0.38:</a:t>
            </a:r>
            <a:br/>
            <a:r>
              <a:t>            state["action_frames"] += 1</a:t>
            </a:r>
            <a:br/>
            <a:r>
              <a:t>            if state["action_frames"] &gt;= 4:</a:t>
            </a:r>
            <a:br/>
            <a:r>
              <a:t>                state["challenge_passed"] = True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VOTER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Voter Journey &amp; Tamper-Proof Ballot Receipts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59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27632"/>
            <a:ext cx="16459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5544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1: Enrollment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Voter registers credentials and captures/uploads profile portrait. YuNet verifies face presence; SFace stores 128-d biometric feature vector.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07259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587752"/>
            <a:ext cx="16459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51460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2: Email OTP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System issues a 6-digit OTP code to voter email. Enforces email ownership and identity verification before ballot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107259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547872"/>
            <a:ext cx="16459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7472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3: Party Ballot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Voter logs in and selects political party/candidate. Launching vote triggers the camera scanner modal.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43400"/>
            <a:ext cx="107259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4507992"/>
            <a:ext cx="16459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PHASE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43484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4: Biometric Match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Simultaneous dual-verification: Live face matched with profile photo (&gt;70% confidence) AND assigned liveness challenge fulfilled.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107259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5468112"/>
            <a:ext cx="16459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PHASE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39496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5: Digital Receipt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System records vote atomically. Generates tamper-proof receipt (VOTE-XXXXXXXX-XXXXXXXX) with biometric match score &amp; timestamp.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ADMINISTRATION &amp;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Election Commission Supervisory Portal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37160" cy="2194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459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</a:defRPr>
            </a:pPr>
            <a:r>
              <a:t>Dynamic Candidate / Party Management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Administrators can register new political parties, enter candidate names, pick theme branding colors, select party emblem icons, or upload custom high-resolution logos.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137160" cy="2194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Real-Time Chart.js Visual Tallies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Interactive bar charts and doughnut charts visualize vote share and live candidate rankings. Endpoint /admin/api/live-stats enables auto-refreshing analytics.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886200"/>
            <a:ext cx="137160" cy="2194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0690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7C3AED"/>
                </a:solidFill>
              </a:defRPr>
            </a:pPr>
            <a:r>
              <a:t>Comprehensive Voter Roster &amp; Audit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Displays all enrolled citizens, email verification status, facial biometric indicators, voting timestamps, and party voted for.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8620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886200"/>
            <a:ext cx="137160" cy="2194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0690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A580C"/>
                </a:solidFill>
              </a:defRPr>
            </a:pPr>
            <a:r>
              <a:t>Election Integrity &amp; Testing Controls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Zero-vote locks protect parties with active votes. Dedicated 'Reset All Votes' tool enables multi-round testing without altering voter credentials.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SYSTEM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Technology Stack &amp; Performance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5911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114800"/>
                <a:gridCol w="4050791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</a:defRPr>
                      </a:pPr>
                      <a:r>
                        <a:t>Component / Layer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</a:defRPr>
                      </a:pPr>
                      <a:r>
                        <a:t>Technology Utilized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</a:defRPr>
                      </a:pPr>
                      <a:r>
                        <a:t>Key Function &amp; Performance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Web Framework &amp; 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Python 3.10 + Flask 3.1 + Werkzeug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Microsecond REST routing, session management, secure password hashing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Face Detection Model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OpenCV YuNet (ONNX Model - 232 KB)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Real-time CNN detection of bounding box + 5 facial landmarks in &lt; 12ms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Face Recognition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OpenCV SFace (ONNX Model - 38.6 MB)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Generates 128-d facial embeddings. Cosine similarity threshold 0.363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Liveness / 3D Mesh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Google MediaPipe FaceMesh (0.10.14)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468 3D landmarks for real-time EAR (blinks) and solvePnP head yaw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Database &amp; Transactions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SQLite3 with ACID Foreign Keys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Enforces atomic one-voter-one-vote rule and generates unique audit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5912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0972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 b="1">
                <a:solidFill>
                  <a:srgbClr val="F1F5F9"/>
                </a:solidFill>
              </a:defRPr>
            </a:pPr>
            <a:r>
              <a:t>Conclusion &amp; Future Enhancements</a:t>
            </a:r>
          </a:p>
          <a:p>
            <a:pPr>
              <a:defRPr b="1" sz="1300">
                <a:solidFill>
                  <a:srgbClr val="60A5FA"/>
                </a:solidFill>
              </a:defRPr>
            </a:pPr>
            <a:r>
              <a:t>• Electoral Integrity Secured: 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  BioVote successfully eliminates impersonation and proxy voting through dual-layer face recognition and dynamic interactive liveness challenges.</a:t>
            </a:r>
          </a:p>
          <a:p>
            <a:pPr>
              <a:defRPr b="1" sz="1300">
                <a:solidFill>
                  <a:srgbClr val="60A5FA"/>
                </a:solidFill>
              </a:defRPr>
            </a:pPr>
            <a:r>
              <a:t>• High Performance &amp; Zero Cloud Reliance: 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  Runs completely on edge/local systems using lightweight ONNX and MediaPipe models with zero GPU dependencies.</a:t>
            </a:r>
          </a:p>
          <a:p>
            <a:pPr>
              <a:defRPr b="1" sz="1300">
                <a:solidFill>
                  <a:srgbClr val="60A5FA"/>
                </a:solidFill>
              </a:defRPr>
            </a:pPr>
            <a:r>
              <a:t>• Future Scope: Blockchain Ledger: 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  Integration with decentralized Ethereum / Hyperledger blockchains for immutable public vote tally verification.</a:t>
            </a:r>
          </a:p>
          <a:p>
            <a:pPr>
              <a:defRPr b="1" sz="1300">
                <a:solidFill>
                  <a:srgbClr val="60A5FA"/>
                </a:solidFill>
              </a:defRPr>
            </a:pPr>
            <a:r>
              <a:t>• Future Scope: Multi-Spectral Liveness: 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  Incorporating near-infrared (NIR) or 3D depth-sensing cameras for anti-deepfake defense against hyper-realistic silicone masks.</a:t>
            </a:r>
          </a:p>
          <a:p>
            <a:br/>
            <a:pPr>
              <a:defRPr sz="1600" b="1">
                <a:solidFill>
                  <a:srgbClr val="10B981"/>
                </a:solidFill>
              </a:defRPr>
            </a:pPr>
            <a:r>
              <a:t>Thank You! Open for Questions &amp; Live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